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7" r:id="rId3"/>
    <p:sldId id="275" r:id="rId4"/>
    <p:sldId id="276" r:id="rId5"/>
    <p:sldId id="259" r:id="rId6"/>
    <p:sldId id="262" r:id="rId7"/>
    <p:sldId id="261" r:id="rId8"/>
    <p:sldId id="274" r:id="rId9"/>
    <p:sldId id="263" r:id="rId10"/>
    <p:sldId id="265" r:id="rId11"/>
    <p:sldId id="264" r:id="rId12"/>
    <p:sldId id="266" r:id="rId13"/>
    <p:sldId id="268" r:id="rId14"/>
    <p:sldId id="267" r:id="rId15"/>
    <p:sldId id="260" r:id="rId16"/>
    <p:sldId id="25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Minh" userId="3113a65eb38b9dea" providerId="LiveId" clId="{80CF9BB2-5FB8-4EC0-9ACC-AB95130CDCBC}"/>
    <pc:docChg chg="modSld">
      <pc:chgData name="Le Minh" userId="3113a65eb38b9dea" providerId="LiveId" clId="{80CF9BB2-5FB8-4EC0-9ACC-AB95130CDCBC}" dt="2021-11-23T12:59:41.106" v="66" actId="20577"/>
      <pc:docMkLst>
        <pc:docMk/>
      </pc:docMkLst>
      <pc:sldChg chg="modAnim">
        <pc:chgData name="Le Minh" userId="3113a65eb38b9dea" providerId="LiveId" clId="{80CF9BB2-5FB8-4EC0-9ACC-AB95130CDCBC}" dt="2021-11-23T12:50:58.543" v="18"/>
        <pc:sldMkLst>
          <pc:docMk/>
          <pc:sldMk cId="0" sldId="259"/>
        </pc:sldMkLst>
      </pc:sldChg>
      <pc:sldChg chg="modAnim">
        <pc:chgData name="Le Minh" userId="3113a65eb38b9dea" providerId="LiveId" clId="{80CF9BB2-5FB8-4EC0-9ACC-AB95130CDCBC}" dt="2021-11-23T12:51:11.421" v="20"/>
        <pc:sldMkLst>
          <pc:docMk/>
          <pc:sldMk cId="0" sldId="260"/>
        </pc:sldMkLst>
      </pc:sldChg>
      <pc:sldChg chg="modAnim">
        <pc:chgData name="Le Minh" userId="3113a65eb38b9dea" providerId="LiveId" clId="{80CF9BB2-5FB8-4EC0-9ACC-AB95130CDCBC}" dt="2021-11-23T12:51:39.045" v="25"/>
        <pc:sldMkLst>
          <pc:docMk/>
          <pc:sldMk cId="0" sldId="261"/>
        </pc:sldMkLst>
      </pc:sldChg>
      <pc:sldChg chg="modAnim">
        <pc:chgData name="Le Minh" userId="3113a65eb38b9dea" providerId="LiveId" clId="{80CF9BB2-5FB8-4EC0-9ACC-AB95130CDCBC}" dt="2021-11-23T12:51:53.797" v="27"/>
        <pc:sldMkLst>
          <pc:docMk/>
          <pc:sldMk cId="0" sldId="262"/>
        </pc:sldMkLst>
      </pc:sldChg>
      <pc:sldChg chg="modAnim">
        <pc:chgData name="Le Minh" userId="3113a65eb38b9dea" providerId="LiveId" clId="{80CF9BB2-5FB8-4EC0-9ACC-AB95130CDCBC}" dt="2021-11-23T12:52:05.055" v="29"/>
        <pc:sldMkLst>
          <pc:docMk/>
          <pc:sldMk cId="0" sldId="263"/>
        </pc:sldMkLst>
      </pc:sldChg>
      <pc:sldChg chg="modAnim">
        <pc:chgData name="Le Minh" userId="3113a65eb38b9dea" providerId="LiveId" clId="{80CF9BB2-5FB8-4EC0-9ACC-AB95130CDCBC}" dt="2021-11-23T12:52:15.432" v="31"/>
        <pc:sldMkLst>
          <pc:docMk/>
          <pc:sldMk cId="0" sldId="264"/>
        </pc:sldMkLst>
      </pc:sldChg>
      <pc:sldChg chg="modAnim">
        <pc:chgData name="Le Minh" userId="3113a65eb38b9dea" providerId="LiveId" clId="{80CF9BB2-5FB8-4EC0-9ACC-AB95130CDCBC}" dt="2021-11-23T12:52:24.630" v="33"/>
        <pc:sldMkLst>
          <pc:docMk/>
          <pc:sldMk cId="0" sldId="265"/>
        </pc:sldMkLst>
      </pc:sldChg>
      <pc:sldChg chg="modAnim">
        <pc:chgData name="Le Minh" userId="3113a65eb38b9dea" providerId="LiveId" clId="{80CF9BB2-5FB8-4EC0-9ACC-AB95130CDCBC}" dt="2021-11-23T12:52:34.067" v="35"/>
        <pc:sldMkLst>
          <pc:docMk/>
          <pc:sldMk cId="0" sldId="266"/>
        </pc:sldMkLst>
      </pc:sldChg>
      <pc:sldChg chg="modAnim">
        <pc:chgData name="Le Minh" userId="3113a65eb38b9dea" providerId="LiveId" clId="{80CF9BB2-5FB8-4EC0-9ACC-AB95130CDCBC}" dt="2021-11-23T12:53:01.366" v="41"/>
        <pc:sldMkLst>
          <pc:docMk/>
          <pc:sldMk cId="0" sldId="267"/>
        </pc:sldMkLst>
      </pc:sldChg>
      <pc:sldChg chg="modAnim">
        <pc:chgData name="Le Minh" userId="3113a65eb38b9dea" providerId="LiveId" clId="{80CF9BB2-5FB8-4EC0-9ACC-AB95130CDCBC}" dt="2021-11-23T12:53:13.703" v="43"/>
        <pc:sldMkLst>
          <pc:docMk/>
          <pc:sldMk cId="0" sldId="268"/>
        </pc:sldMkLst>
      </pc:sldChg>
      <pc:sldChg chg="modAnim">
        <pc:chgData name="Le Minh" userId="3113a65eb38b9dea" providerId="LiveId" clId="{80CF9BB2-5FB8-4EC0-9ACC-AB95130CDCBC}" dt="2021-11-23T12:53:32.471" v="48"/>
        <pc:sldMkLst>
          <pc:docMk/>
          <pc:sldMk cId="0" sldId="270"/>
        </pc:sldMkLst>
      </pc:sldChg>
      <pc:sldChg chg="modSp modAnim">
        <pc:chgData name="Le Minh" userId="3113a65eb38b9dea" providerId="LiveId" clId="{80CF9BB2-5FB8-4EC0-9ACC-AB95130CDCBC}" dt="2021-11-23T12:59:41.106" v="66" actId="20577"/>
        <pc:sldMkLst>
          <pc:docMk/>
          <pc:sldMk cId="0" sldId="272"/>
        </pc:sldMkLst>
        <pc:spChg chg="mod">
          <ac:chgData name="Le Minh" userId="3113a65eb38b9dea" providerId="LiveId" clId="{80CF9BB2-5FB8-4EC0-9ACC-AB95130CDCBC}" dt="2021-11-23T12:59:41.106" v="66" actId="20577"/>
          <ac:spMkLst>
            <pc:docMk/>
            <pc:sldMk cId="0" sldId="272"/>
            <ac:spMk id="5" creationId="{00000000-0000-0000-0000-000000000000}"/>
          </ac:spMkLst>
        </pc:spChg>
      </pc:sldChg>
      <pc:sldChg chg="modAnim">
        <pc:chgData name="Le Minh" userId="3113a65eb38b9dea" providerId="LiveId" clId="{80CF9BB2-5FB8-4EC0-9ACC-AB95130CDCBC}" dt="2021-11-23T12:52:50.358" v="39"/>
        <pc:sldMkLst>
          <pc:docMk/>
          <pc:sldMk cId="0" sldId="273"/>
        </pc:sldMkLst>
      </pc:sldChg>
      <pc:sldChg chg="modAnim">
        <pc:chgData name="Le Minh" userId="3113a65eb38b9dea" providerId="LiveId" clId="{80CF9BB2-5FB8-4EC0-9ACC-AB95130CDCBC}" dt="2021-11-23T12:51:28.261" v="23"/>
        <pc:sldMkLst>
          <pc:docMk/>
          <pc:sldMk cId="0" sldId="274"/>
        </pc:sldMkLst>
      </pc:sldChg>
      <pc:sldChg chg="modAnim">
        <pc:chgData name="Le Minh" userId="3113a65eb38b9dea" providerId="LiveId" clId="{80CF9BB2-5FB8-4EC0-9ACC-AB95130CDCBC}" dt="2021-11-23T12:50:28.447" v="13"/>
        <pc:sldMkLst>
          <pc:docMk/>
          <pc:sldMk cId="2052706866" sldId="275"/>
        </pc:sldMkLst>
      </pc:sldChg>
      <pc:sldChg chg="modAnim">
        <pc:chgData name="Le Minh" userId="3113a65eb38b9dea" providerId="LiveId" clId="{80CF9BB2-5FB8-4EC0-9ACC-AB95130CDCBC}" dt="2021-11-23T12:50:42.193" v="15"/>
        <pc:sldMkLst>
          <pc:docMk/>
          <pc:sldMk cId="2047234049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Đầu trang của Phầ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10/13/23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Trennbare</a:t>
            </a:r>
            <a:r>
              <a:rPr lang="en-US" b="1" dirty="0"/>
              <a:t> </a:t>
            </a:r>
            <a:r>
              <a:rPr lang="en-US" b="1" dirty="0" err="1"/>
              <a:t>Verben</a:t>
            </a:r>
            <a:br>
              <a:rPr lang="en-US" b="1" dirty="0"/>
            </a:br>
            <a:r>
              <a:rPr lang="en-US" sz="3600" b="1" dirty="0">
                <a:solidFill>
                  <a:srgbClr val="FF0000"/>
                </a:solidFill>
              </a:rPr>
              <a:t>separable verbs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Studio 21 – A1.1 – Einheit 5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pair of scissors with words&#10;&#10;Description automatically generated">
            <a:extLst>
              <a:ext uri="{FF2B5EF4-FFF2-40B4-BE49-F238E27FC236}">
                <a16:creationId xmlns:a16="http://schemas.microsoft.com/office/drawing/2014/main" id="{7ED4CCF6-B850-6E31-9EEA-2E99884E2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856" y="110880"/>
            <a:ext cx="6996904" cy="6636240"/>
          </a:xfrm>
        </p:spPr>
      </p:pic>
    </p:spTree>
    <p:extLst>
      <p:ext uri="{BB962C8B-B14F-4D97-AF65-F5344CB8AC3E}">
        <p14:creationId xmlns:p14="http://schemas.microsoft.com/office/powerpoint/2010/main" val="35713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070C-896C-B04A-8E62-C6CD2111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568" y="318476"/>
            <a:ext cx="10058400" cy="1050463"/>
          </a:xfrm>
        </p:spPr>
        <p:txBody>
          <a:bodyPr/>
          <a:lstStyle/>
          <a:p>
            <a:r>
              <a:rPr lang="en-US" b="1" dirty="0"/>
              <a:t>Was </a:t>
            </a:r>
            <a:r>
              <a:rPr lang="en-US" b="1" dirty="0" err="1"/>
              <a:t>sind</a:t>
            </a:r>
            <a:r>
              <a:rPr lang="en-US" b="1" dirty="0"/>
              <a:t> </a:t>
            </a:r>
            <a:r>
              <a:rPr lang="en-US" b="1" dirty="0" err="1"/>
              <a:t>trennbare</a:t>
            </a:r>
            <a:r>
              <a:rPr lang="en-US" b="1" dirty="0"/>
              <a:t> </a:t>
            </a:r>
            <a:r>
              <a:rPr lang="en-US" b="1" dirty="0" err="1"/>
              <a:t>Verben</a:t>
            </a:r>
            <a:r>
              <a:rPr lang="en-US" b="1" dirty="0"/>
              <a:t>?</a:t>
            </a:r>
            <a:endParaRPr lang="en-DE" dirty="0"/>
          </a:p>
        </p:txBody>
      </p:sp>
      <p:sp>
        <p:nvSpPr>
          <p:cNvPr id="4" name="Hình chữ nhật 4">
            <a:extLst>
              <a:ext uri="{FF2B5EF4-FFF2-40B4-BE49-F238E27FC236}">
                <a16:creationId xmlns:a16="http://schemas.microsoft.com/office/drawing/2014/main" id="{49BF8C2A-D2B1-594C-B42A-406206D49239}"/>
              </a:ext>
            </a:extLst>
          </p:cNvPr>
          <p:cNvSpPr/>
          <p:nvPr/>
        </p:nvSpPr>
        <p:spPr>
          <a:xfrm>
            <a:off x="3369496" y="1556595"/>
            <a:ext cx="52020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/>
              <a:t>Trennbare</a:t>
            </a:r>
            <a:r>
              <a:rPr lang="en-US" sz="3200" b="1" dirty="0"/>
              <a:t> </a:t>
            </a:r>
            <a:r>
              <a:rPr lang="en-US" sz="3200" b="1" dirty="0" err="1"/>
              <a:t>Verben</a:t>
            </a:r>
            <a:r>
              <a:rPr lang="en-US" sz="3200" b="1" dirty="0"/>
              <a:t> </a:t>
            </a:r>
            <a:r>
              <a:rPr lang="en-US" sz="3200" dirty="0" err="1"/>
              <a:t>haben</a:t>
            </a:r>
            <a:endParaRPr lang="en-US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8FFCB-2422-D249-AFBB-DEB6E735AB48}"/>
              </a:ext>
            </a:extLst>
          </p:cNvPr>
          <p:cNvSpPr/>
          <p:nvPr/>
        </p:nvSpPr>
        <p:spPr>
          <a:xfrm>
            <a:off x="1336568" y="3554799"/>
            <a:ext cx="27671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/>
              <a:t>d</a:t>
            </a:r>
            <a:r>
              <a:rPr lang="en-DE" sz="3600" dirty="0"/>
              <a:t>ie Vorsilbe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01AAB-D668-8A4D-8DA7-92B56ACAA842}"/>
              </a:ext>
            </a:extLst>
          </p:cNvPr>
          <p:cNvSpPr/>
          <p:nvPr/>
        </p:nvSpPr>
        <p:spPr>
          <a:xfrm>
            <a:off x="6096000" y="3554129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/>
              <a:t>d</a:t>
            </a:r>
            <a:r>
              <a:rPr lang="en-DE" sz="3600" dirty="0"/>
              <a:t>as </a:t>
            </a:r>
            <a:r>
              <a:rPr lang="en-DE" sz="3200" dirty="0"/>
              <a:t>Stammverb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77430-5557-8644-AA4E-62D92E51F493}"/>
              </a:ext>
            </a:extLst>
          </p:cNvPr>
          <p:cNvSpPr/>
          <p:nvPr/>
        </p:nvSpPr>
        <p:spPr>
          <a:xfrm>
            <a:off x="4103672" y="2504336"/>
            <a:ext cx="19030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4000" dirty="0">
                <a:solidFill>
                  <a:srgbClr val="00B0F0"/>
                </a:solidFill>
                <a:latin typeface="Cambria" panose="02040503050406030204" pitchFamily="18" charset="0"/>
              </a:rPr>
              <a:t>an</a:t>
            </a:r>
            <a:r>
              <a:rPr lang="de-DE" sz="4000" dirty="0">
                <a:latin typeface="Cambria" panose="02040503050406030204" pitchFamily="18" charset="0"/>
              </a:rPr>
              <a:t>rufen</a:t>
            </a:r>
            <a:endParaRPr lang="en-US" sz="4000" dirty="0">
              <a:latin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F4FEE2-5C90-F844-83FC-AF023631F4EE}"/>
              </a:ext>
            </a:extLst>
          </p:cNvPr>
          <p:cNvCxnSpPr/>
          <p:nvPr/>
        </p:nvCxnSpPr>
        <p:spPr>
          <a:xfrm flipH="1">
            <a:off x="2464420" y="3111190"/>
            <a:ext cx="1940312" cy="5910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642BB7-8236-824C-92AC-CFBA2214433A}"/>
              </a:ext>
            </a:extLst>
          </p:cNvPr>
          <p:cNvCxnSpPr>
            <a:cxnSpLocks/>
          </p:cNvCxnSpPr>
          <p:nvPr/>
        </p:nvCxnSpPr>
        <p:spPr>
          <a:xfrm>
            <a:off x="5231524" y="3111190"/>
            <a:ext cx="1897406" cy="5439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D2676B-3E61-5045-A894-ABAFC50D3104}"/>
              </a:ext>
            </a:extLst>
          </p:cNvPr>
          <p:cNvSpPr/>
          <p:nvPr/>
        </p:nvSpPr>
        <p:spPr>
          <a:xfrm>
            <a:off x="5988505" y="2622468"/>
            <a:ext cx="8066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2800" dirty="0">
                <a:solidFill>
                  <a:srgbClr val="C00000"/>
                </a:solidFill>
              </a:rPr>
              <a:t>call</a:t>
            </a:r>
          </a:p>
        </p:txBody>
      </p:sp>
      <p:pic>
        <p:nvPicPr>
          <p:cNvPr id="16" name="Hình ảnh 18" descr="Cartoon geschäftsmann im gespräch mit handy leinwandbilder ...">
            <a:extLst>
              <a:ext uri="{FF2B5EF4-FFF2-40B4-BE49-F238E27FC236}">
                <a16:creationId xmlns:a16="http://schemas.microsoft.com/office/drawing/2014/main" id="{B78BBB78-5610-CF4D-8EDA-96DB47457FE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72" y="4044782"/>
            <a:ext cx="1748904" cy="2208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27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Hình ảnh 17" descr="Doodle boy in bed - Download Free Vectors, Clipart Graphics ...">
            <a:extLst>
              <a:ext uri="{FF2B5EF4-FFF2-40B4-BE49-F238E27FC236}">
                <a16:creationId xmlns:a16="http://schemas.microsoft.com/office/drawing/2014/main" id="{C4245DD6-A9FC-344F-9937-ABBEE72591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8205" y="807593"/>
            <a:ext cx="5934866" cy="5239568"/>
          </a:xfrm>
          <a:prstGeom prst="rect">
            <a:avLst/>
          </a:prstGeom>
          <a:noFill/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B20450-AAF0-3F4F-91F7-D99C9A3502FB}"/>
              </a:ext>
            </a:extLst>
          </p:cNvPr>
          <p:cNvSpPr/>
          <p:nvPr/>
        </p:nvSpPr>
        <p:spPr>
          <a:xfrm>
            <a:off x="531841" y="2820587"/>
            <a:ext cx="410721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4800" dirty="0"/>
              <a:t>Ich </a:t>
            </a:r>
            <a:r>
              <a:rPr lang="en-DE" sz="4800" dirty="0">
                <a:solidFill>
                  <a:srgbClr val="00B0F0"/>
                </a:solidFill>
              </a:rPr>
              <a:t>stehe </a:t>
            </a:r>
          </a:p>
          <a:p>
            <a:r>
              <a:rPr lang="en-DE" sz="4800" dirty="0"/>
              <a:t>um 7 Uhr </a:t>
            </a:r>
            <a:r>
              <a:rPr lang="en-DE" sz="4800" dirty="0">
                <a:solidFill>
                  <a:srgbClr val="00B0F0"/>
                </a:solidFill>
              </a:rPr>
              <a:t>auf.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87584-13C8-764F-A873-0193A23587CB}"/>
              </a:ext>
            </a:extLst>
          </p:cNvPr>
          <p:cNvSpPr/>
          <p:nvPr/>
        </p:nvSpPr>
        <p:spPr>
          <a:xfrm>
            <a:off x="776022" y="766941"/>
            <a:ext cx="3378820" cy="1133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a</a:t>
            </a:r>
            <a:r>
              <a:rPr lang="en-DE" sz="3600" b="1" dirty="0"/>
              <a:t>ufstehen </a:t>
            </a:r>
          </a:p>
        </p:txBody>
      </p:sp>
    </p:spTree>
    <p:extLst>
      <p:ext uri="{BB962C8B-B14F-4D97-AF65-F5344CB8AC3E}">
        <p14:creationId xmlns:p14="http://schemas.microsoft.com/office/powerpoint/2010/main" val="204723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 descr="Zimmer aufräumen clipart 9 » Clipart Statio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885" y="1668807"/>
            <a:ext cx="6102350" cy="4830610"/>
          </a:xfrm>
          <a:prstGeom prst="rect">
            <a:avLst/>
          </a:prstGeom>
          <a:noFill/>
        </p:spPr>
      </p:pic>
      <p:sp>
        <p:nvSpPr>
          <p:cNvPr id="6" name="Hình chữ nhật 5"/>
          <p:cNvSpPr/>
          <p:nvPr/>
        </p:nvSpPr>
        <p:spPr>
          <a:xfrm>
            <a:off x="6328581" y="3429000"/>
            <a:ext cx="53238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de-DE" sz="3200" b="1" dirty="0"/>
              <a:t>z.B: Er </a:t>
            </a:r>
            <a:r>
              <a:rPr lang="de-DE" sz="3200" b="1" dirty="0">
                <a:solidFill>
                  <a:srgbClr val="00B0F0"/>
                </a:solidFill>
              </a:rPr>
              <a:t>räumt</a:t>
            </a:r>
            <a:r>
              <a:rPr lang="de-DE" sz="3200" b="1" dirty="0"/>
              <a:t> sein Zimmer </a:t>
            </a:r>
            <a:r>
              <a:rPr lang="de-DE" sz="3200" b="1" dirty="0">
                <a:solidFill>
                  <a:srgbClr val="00B0F0"/>
                </a:solidFill>
              </a:rPr>
              <a:t>auf</a:t>
            </a:r>
            <a:r>
              <a:rPr lang="de-DE" sz="3200" b="1" dirty="0"/>
              <a:t>.</a:t>
            </a:r>
            <a:endParaRPr lang="en-US" sz="3200" b="1" dirty="0"/>
          </a:p>
        </p:txBody>
      </p:sp>
      <p:sp>
        <p:nvSpPr>
          <p:cNvPr id="7" name="Hình chữ nhật 6"/>
          <p:cNvSpPr/>
          <p:nvPr/>
        </p:nvSpPr>
        <p:spPr>
          <a:xfrm>
            <a:off x="4949948" y="358583"/>
            <a:ext cx="3270773" cy="866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aufräumen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C46F95-7339-564E-B314-B13F214C9039}"/>
              </a:ext>
            </a:extLst>
          </p:cNvPr>
          <p:cNvSpPr/>
          <p:nvPr/>
        </p:nvSpPr>
        <p:spPr>
          <a:xfrm>
            <a:off x="8541833" y="574026"/>
            <a:ext cx="19737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DE" sz="2800" b="1" dirty="0">
                <a:solidFill>
                  <a:srgbClr val="FF0000"/>
                </a:solidFill>
              </a:rPr>
              <a:t>clean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go shopping </a:t>
            </a:r>
          </a:p>
        </p:txBody>
      </p:sp>
      <p:sp useBgFill="1">
        <p:nvSpPr>
          <p:cNvPr id="5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890886" y="983228"/>
            <a:ext cx="8301112" cy="5874772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66700" y="360023"/>
            <a:ext cx="5342806" cy="4453168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 go shopping </a:t>
            </a:r>
          </a:p>
        </p:txBody>
      </p:sp>
      <p:pic>
        <p:nvPicPr>
          <p:cNvPr id="7" name="Hình ảnh 6" descr="Einkaufen clipart 3 » Clipart Statio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1540" y="1403437"/>
            <a:ext cx="5303760" cy="4051125"/>
          </a:xfrm>
          <a:prstGeom prst="rect">
            <a:avLst/>
          </a:prstGeom>
          <a:noFill/>
        </p:spPr>
      </p:pic>
      <p:sp>
        <p:nvSpPr>
          <p:cNvPr id="8" name="Hình chữ nhật 7"/>
          <p:cNvSpPr/>
          <p:nvPr/>
        </p:nvSpPr>
        <p:spPr>
          <a:xfrm>
            <a:off x="3315188" y="5732088"/>
            <a:ext cx="7813357" cy="1092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Sie </a:t>
            </a:r>
            <a:r>
              <a:rPr lang="de-DE" sz="3600" b="1" dirty="0">
                <a:solidFill>
                  <a:srgbClr val="00B0F0"/>
                </a:solidFill>
              </a:rPr>
              <a:t>kauft</a:t>
            </a:r>
            <a:r>
              <a:rPr lang="de-DE" sz="3600" b="1" dirty="0"/>
              <a:t> oft im Supermarkt </a:t>
            </a:r>
            <a:r>
              <a:rPr lang="de-DE" sz="3600" b="1" dirty="0">
                <a:solidFill>
                  <a:srgbClr val="00B0F0"/>
                </a:solidFill>
              </a:rPr>
              <a:t>ein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</a:rPr>
              <a:t>She often goes shopping in the supermarket</a:t>
            </a:r>
          </a:p>
        </p:txBody>
      </p:sp>
      <p:sp>
        <p:nvSpPr>
          <p:cNvPr id="9" name="Hình chữ nhật 8"/>
          <p:cNvSpPr/>
          <p:nvPr/>
        </p:nvSpPr>
        <p:spPr>
          <a:xfrm>
            <a:off x="2213110" y="2337579"/>
            <a:ext cx="2438400" cy="10030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einkaufen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99B54-7C73-844D-82F2-E5522E32971F}"/>
              </a:ext>
            </a:extLst>
          </p:cNvPr>
          <p:cNvSpPr/>
          <p:nvPr/>
        </p:nvSpPr>
        <p:spPr>
          <a:xfrm>
            <a:off x="2170212" y="3379950"/>
            <a:ext cx="2276300" cy="696951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g</a:t>
            </a:r>
            <a:r>
              <a:rPr lang="en-DE" sz="2400" b="1" dirty="0">
                <a:solidFill>
                  <a:srgbClr val="C00000"/>
                </a:solidFill>
              </a:rPr>
              <a:t>o shopping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Freeform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Freeform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Freeform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Freeform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5" name="Hình chữ nhật 14"/>
          <p:cNvSpPr/>
          <p:nvPr/>
        </p:nvSpPr>
        <p:spPr>
          <a:xfrm>
            <a:off x="8226634" y="1709767"/>
            <a:ext cx="2926080" cy="79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fernsehen</a:t>
            </a:r>
            <a:endParaRPr lang="en-US" sz="4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Freeform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7" name="Freeform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Freeform: Shap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503020205020403"/>
              <a:ea typeface="+mn-ea"/>
              <a:cs typeface="+mn-cs"/>
            </a:endParaRPr>
          </a:p>
        </p:txBody>
      </p:sp>
      <p:pic>
        <p:nvPicPr>
          <p:cNvPr id="19" name="Hình ảnh 18" descr="Bilder, Stockfotos und Vektorgrafiken Faul Fernsehen | Shutterstock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8" r="-2" b="452"/>
          <a:stretch>
            <a:fillRect/>
          </a:stretch>
        </p:blipFill>
        <p:spPr bwMode="auto">
          <a:xfrm>
            <a:off x="922756" y="1691525"/>
            <a:ext cx="6589461" cy="3841286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noFill/>
        </p:spPr>
      </p:pic>
      <p:sp>
        <p:nvSpPr>
          <p:cNvPr id="20" name="Hình chữ nhật 19"/>
          <p:cNvSpPr/>
          <p:nvPr/>
        </p:nvSpPr>
        <p:spPr>
          <a:xfrm>
            <a:off x="7854502" y="3308317"/>
            <a:ext cx="48031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3600" b="1" dirty="0"/>
              <a:t>z.B: Am Wochenende </a:t>
            </a:r>
            <a:r>
              <a:rPr lang="de-DE" sz="3600" b="1" dirty="0">
                <a:solidFill>
                  <a:srgbClr val="00B0F0"/>
                </a:solidFill>
              </a:rPr>
              <a:t>sehe </a:t>
            </a:r>
            <a:r>
              <a:rPr lang="de-DE" sz="3600" b="1" dirty="0"/>
              <a:t>ich gern </a:t>
            </a:r>
            <a:r>
              <a:rPr lang="de-DE" sz="3600" b="1" dirty="0">
                <a:solidFill>
                  <a:srgbClr val="00B0F0"/>
                </a:solidFill>
              </a:rPr>
              <a:t>fern.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0738B-BB85-754A-B24D-9DD6EA2877BA}"/>
              </a:ext>
            </a:extLst>
          </p:cNvPr>
          <p:cNvSpPr/>
          <p:nvPr/>
        </p:nvSpPr>
        <p:spPr>
          <a:xfrm>
            <a:off x="8715794" y="2615657"/>
            <a:ext cx="2560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</a:rPr>
              <a:t>watch television</a:t>
            </a:r>
            <a:endParaRPr lang="en-DE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t Freunden Ausgehen Stockfoto und mehr Bilder von Afrikanischer  Abstammung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37" y="879999"/>
            <a:ext cx="6276480" cy="41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Hình chữ nhật 5"/>
          <p:cNvSpPr/>
          <p:nvPr/>
        </p:nvSpPr>
        <p:spPr>
          <a:xfrm>
            <a:off x="8190702" y="2408915"/>
            <a:ext cx="2695836" cy="8733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ausgehen</a:t>
            </a:r>
            <a:endParaRPr lang="en-US" sz="3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619124" y="5056711"/>
            <a:ext cx="11458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1800" b="1" dirty="0"/>
              <a:t>z.</a:t>
            </a:r>
            <a:r>
              <a:rPr lang="de-DE" sz="3600" b="1" dirty="0"/>
              <a:t>B: Am Wochenende </a:t>
            </a:r>
            <a:r>
              <a:rPr lang="de-DE" sz="3600" b="1" dirty="0">
                <a:solidFill>
                  <a:schemeClr val="accent1"/>
                </a:solidFill>
              </a:rPr>
              <a:t>gehe</a:t>
            </a:r>
            <a:r>
              <a:rPr lang="de-DE" sz="3600" b="1" dirty="0"/>
              <a:t> ich mit Freunden </a:t>
            </a:r>
            <a:r>
              <a:rPr lang="de-DE" sz="3600" b="1" dirty="0">
                <a:solidFill>
                  <a:schemeClr val="accent1"/>
                </a:solidFill>
              </a:rPr>
              <a:t>aus.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FF8AB-676C-B944-AABD-0D93368749DD}"/>
              </a:ext>
            </a:extLst>
          </p:cNvPr>
          <p:cNvSpPr/>
          <p:nvPr/>
        </p:nvSpPr>
        <p:spPr>
          <a:xfrm>
            <a:off x="8613367" y="3405034"/>
            <a:ext cx="1337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2800" b="1" dirty="0">
                <a:solidFill>
                  <a:srgbClr val="FF0000"/>
                </a:solidFill>
              </a:rPr>
              <a:t>go 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8CEA4-62F3-9A43-AB62-E17420DA3C4D}"/>
              </a:ext>
            </a:extLst>
          </p:cNvPr>
          <p:cNvSpPr/>
          <p:nvPr/>
        </p:nvSpPr>
        <p:spPr>
          <a:xfrm>
            <a:off x="2227496" y="5651542"/>
            <a:ext cx="6096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2800" b="1" dirty="0">
                <a:solidFill>
                  <a:srgbClr val="FF0000"/>
                </a:solidFill>
              </a:rPr>
              <a:t>I go out with friends on weekends.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Every day my mother picks me up from school.</a:t>
            </a:r>
          </a:p>
        </p:txBody>
      </p:sp>
      <p:grpSp>
        <p:nvGrpSpPr>
          <p:cNvPr id="5" name="Group 74"/>
          <p:cNvGrpSpPr>
            <a:grpSpLocks noGrp="1" noUngrp="1" noRot="1" noChangeAspect="1" noMove="1" noResize="1"/>
          </p:cNvGrpSpPr>
          <p:nvPr/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6" name="Straight Connector 75"/>
            <p:cNvCxnSpPr/>
            <p:nvPr/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76"/>
            <p:cNvSpPr/>
            <p:nvPr/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8625" y="269325"/>
            <a:ext cx="5346416" cy="61719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School Pick up Images, Stock Photos &amp; Vector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5" b="1"/>
          <a:stretch>
            <a:fillRect/>
          </a:stretch>
        </p:blipFill>
        <p:spPr bwMode="auto">
          <a:xfrm>
            <a:off x="490182" y="321019"/>
            <a:ext cx="5666779" cy="612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Hình chữ nhật 10"/>
          <p:cNvSpPr/>
          <p:nvPr/>
        </p:nvSpPr>
        <p:spPr>
          <a:xfrm>
            <a:off x="6294445" y="3428682"/>
            <a:ext cx="5628028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Jeden Tag </a:t>
            </a:r>
            <a:r>
              <a:rPr lang="de-DE" sz="3600" b="1" dirty="0">
                <a:solidFill>
                  <a:srgbClr val="00B0F0"/>
                </a:solidFill>
              </a:rPr>
              <a:t>holt </a:t>
            </a:r>
            <a:r>
              <a:rPr lang="de-DE" sz="3600" b="1" dirty="0"/>
              <a:t>meine Mutter mich von der Schule </a:t>
            </a:r>
            <a:r>
              <a:rPr lang="de-DE" sz="3600" b="1" dirty="0">
                <a:solidFill>
                  <a:srgbClr val="00B0F0"/>
                </a:solidFill>
              </a:rPr>
              <a:t>ab.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</a:rPr>
              <a:t>Every day my mother picks me up from school.</a:t>
            </a:r>
          </a:p>
        </p:txBody>
      </p:sp>
      <p:sp>
        <p:nvSpPr>
          <p:cNvPr id="12" name="Hình chữ nhật 11"/>
          <p:cNvSpPr/>
          <p:nvPr/>
        </p:nvSpPr>
        <p:spPr>
          <a:xfrm>
            <a:off x="6973408" y="2071375"/>
            <a:ext cx="2416691" cy="1012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Hình chữ nhật 12"/>
          <p:cNvSpPr/>
          <p:nvPr/>
        </p:nvSpPr>
        <p:spPr>
          <a:xfrm>
            <a:off x="7219509" y="2071375"/>
            <a:ext cx="1924490" cy="7742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abholen</a:t>
            </a:r>
            <a:endParaRPr lang="en-US" sz="36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D9E204-2CC9-8740-ACDA-A2DC50BF03A8}"/>
              </a:ext>
            </a:extLst>
          </p:cNvPr>
          <p:cNvSpPr/>
          <p:nvPr/>
        </p:nvSpPr>
        <p:spPr>
          <a:xfrm>
            <a:off x="9534293" y="2263698"/>
            <a:ext cx="1639229" cy="70252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P</a:t>
            </a:r>
            <a:r>
              <a:rPr lang="en-DE" sz="2400" b="1" dirty="0">
                <a:solidFill>
                  <a:srgbClr val="C00000"/>
                </a:solidFill>
              </a:rPr>
              <a:t>ick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eschäftsmann-Hiding From Debt-Kollektor-Vektor-Illustration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1" r="-2" b="15747"/>
          <a:stretch>
            <a:fillRect/>
          </a:stretch>
        </p:blipFill>
        <p:spPr bwMode="auto">
          <a:xfrm>
            <a:off x="563581" y="923278"/>
            <a:ext cx="5912528" cy="5146453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ình chữ nhật 4"/>
          <p:cNvSpPr/>
          <p:nvPr/>
        </p:nvSpPr>
        <p:spPr>
          <a:xfrm>
            <a:off x="6567846" y="2455987"/>
            <a:ext cx="4964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Der Mann </a:t>
            </a:r>
            <a:r>
              <a:rPr lang="de-DE" sz="3600" b="1" dirty="0">
                <a:solidFill>
                  <a:srgbClr val="00B0F0"/>
                </a:solidFill>
              </a:rPr>
              <a:t>macht </a:t>
            </a:r>
            <a:r>
              <a:rPr lang="de-DE" sz="3600" b="1" dirty="0"/>
              <a:t>die Tür </a:t>
            </a:r>
            <a:r>
              <a:rPr lang="de-DE" sz="3600" b="1" dirty="0">
                <a:solidFill>
                  <a:srgbClr val="00B0F0"/>
                </a:solidFill>
              </a:rPr>
              <a:t>zu.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6" name="Hình chữ nhật 5"/>
          <p:cNvSpPr/>
          <p:nvPr/>
        </p:nvSpPr>
        <p:spPr>
          <a:xfrm>
            <a:off x="7208667" y="399494"/>
            <a:ext cx="3151574" cy="8504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zumachen</a:t>
            </a:r>
            <a:endParaRPr lang="en-US" sz="3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B41F1-5A18-D74C-A65E-05AB4C708C9E}"/>
              </a:ext>
            </a:extLst>
          </p:cNvPr>
          <p:cNvSpPr/>
          <p:nvPr/>
        </p:nvSpPr>
        <p:spPr>
          <a:xfrm>
            <a:off x="7870265" y="1462655"/>
            <a:ext cx="1828378" cy="39029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close</a:t>
            </a:r>
            <a:endParaRPr lang="en-DE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4" b="18425"/>
          <a:stretch>
            <a:fillRect/>
          </a:stretch>
        </p:blipFill>
        <p:spPr bwMode="auto">
          <a:xfrm>
            <a:off x="5099173" y="459181"/>
            <a:ext cx="6353022" cy="5151506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Mann, tür öffnen, für, haustier, katz Clipart | k32365441 | Fotosearch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Hình chữ nhật 5"/>
          <p:cNvSpPr/>
          <p:nvPr/>
        </p:nvSpPr>
        <p:spPr>
          <a:xfrm>
            <a:off x="845172" y="5368032"/>
            <a:ext cx="7334059" cy="1092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Der Junge </a:t>
            </a:r>
            <a:r>
              <a:rPr lang="de-DE" sz="3600" b="1" dirty="0">
                <a:solidFill>
                  <a:srgbClr val="00B0F0"/>
                </a:solidFill>
              </a:rPr>
              <a:t>macht </a:t>
            </a:r>
            <a:r>
              <a:rPr lang="de-DE" sz="3600" b="1" dirty="0"/>
              <a:t>die Tür </a:t>
            </a:r>
            <a:r>
              <a:rPr lang="de-DE" sz="3600" b="1" dirty="0">
                <a:solidFill>
                  <a:srgbClr val="00B0F0"/>
                </a:solidFill>
              </a:rPr>
              <a:t>auf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</a:rPr>
              <a:t>The boy opens the door</a:t>
            </a:r>
          </a:p>
        </p:txBody>
      </p:sp>
      <p:sp>
        <p:nvSpPr>
          <p:cNvPr id="7" name="Hình chữ nhật 6"/>
          <p:cNvSpPr/>
          <p:nvPr/>
        </p:nvSpPr>
        <p:spPr>
          <a:xfrm>
            <a:off x="1528139" y="2810522"/>
            <a:ext cx="2937329" cy="932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3600" b="1" dirty="0">
                <a:solidFill>
                  <a:schemeClr val="bg1"/>
                </a:solidFill>
              </a:rPr>
              <a:t>aufmachen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668724-85ED-E440-B505-D92C7E711ED3}"/>
              </a:ext>
            </a:extLst>
          </p:cNvPr>
          <p:cNvSpPr/>
          <p:nvPr/>
        </p:nvSpPr>
        <p:spPr>
          <a:xfrm>
            <a:off x="2096852" y="3884478"/>
            <a:ext cx="1828378" cy="39029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open</a:t>
            </a:r>
            <a:endParaRPr lang="en-DE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come along</a:t>
            </a:r>
          </a:p>
        </p:txBody>
      </p:sp>
      <p:pic>
        <p:nvPicPr>
          <p:cNvPr id="5" name="Picture 2" descr="Kinder gif 7 » GIF Images Download"/>
          <p:cNvPicPr>
            <a:picLocks noChangeAspect="1" noChangeArrowheads="1" noCrop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964" y="452761"/>
            <a:ext cx="3677140" cy="338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flipH="1">
            <a:off x="789091" y="4377267"/>
            <a:ext cx="542047" cy="2376459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flipH="1">
            <a:off x="783841" y="4208147"/>
            <a:ext cx="369761" cy="212183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flipH="1">
            <a:off x="951746" y="4098332"/>
            <a:ext cx="201857" cy="20558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727747" y="4208147"/>
            <a:ext cx="339126" cy="212183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728739" y="4098333"/>
            <a:ext cx="201857" cy="20558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51447" y="4098334"/>
            <a:ext cx="7978524" cy="1960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Hình chữ nhật 11"/>
          <p:cNvSpPr/>
          <p:nvPr/>
        </p:nvSpPr>
        <p:spPr>
          <a:xfrm>
            <a:off x="8887090" y="703862"/>
            <a:ext cx="2661515" cy="703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solidFill>
                  <a:srgbClr val="FEFFFF"/>
                </a:solidFill>
                <a:latin typeface="+mj-lt"/>
                <a:ea typeface="+mj-ea"/>
                <a:cs typeface="+mj-cs"/>
              </a:rPr>
              <a:t>mitkommen</a:t>
            </a:r>
            <a:endParaRPr lang="en-US" sz="3600" b="1" dirty="0">
              <a:solidFill>
                <a:srgbClr val="FE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67800" y="4377267"/>
            <a:ext cx="3121152" cy="195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Hình chữ nhật 13"/>
          <p:cNvSpPr/>
          <p:nvPr/>
        </p:nvSpPr>
        <p:spPr>
          <a:xfrm>
            <a:off x="1669262" y="4394052"/>
            <a:ext cx="63652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 </a:t>
            </a:r>
            <a:r>
              <a:rPr lang="de-DE" sz="3600" b="1" dirty="0">
                <a:solidFill>
                  <a:schemeClr val="bg1"/>
                </a:solidFill>
              </a:rPr>
              <a:t>Wir gehen zur Schule. </a:t>
            </a:r>
            <a:r>
              <a:rPr lang="de-DE" sz="3600" b="1" dirty="0">
                <a:solidFill>
                  <a:srgbClr val="C00000"/>
                </a:solidFill>
              </a:rPr>
              <a:t>Kommst </a:t>
            </a:r>
            <a:r>
              <a:rPr lang="de-DE" sz="3600" b="1" dirty="0">
                <a:solidFill>
                  <a:schemeClr val="bg1"/>
                </a:solidFill>
              </a:rPr>
              <a:t>du </a:t>
            </a:r>
            <a:r>
              <a:rPr lang="de-DE" sz="3600" b="1" dirty="0">
                <a:solidFill>
                  <a:srgbClr val="C00000"/>
                </a:solidFill>
              </a:rPr>
              <a:t>mit</a:t>
            </a:r>
            <a:r>
              <a:rPr lang="de-DE" sz="3600" b="1" dirty="0">
                <a:solidFill>
                  <a:schemeClr val="bg1"/>
                </a:solidFill>
              </a:rPr>
              <a:t>?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90E81-FEE6-334D-94DB-E999069B41B6}"/>
              </a:ext>
            </a:extLst>
          </p:cNvPr>
          <p:cNvSpPr/>
          <p:nvPr/>
        </p:nvSpPr>
        <p:spPr>
          <a:xfrm>
            <a:off x="8929971" y="1538868"/>
            <a:ext cx="2723053" cy="69137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come along</a:t>
            </a:r>
            <a:endParaRPr lang="en-DE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arrive</a:t>
            </a:r>
          </a:p>
        </p:txBody>
      </p:sp>
      <p:sp>
        <p:nvSpPr>
          <p:cNvPr id="8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Hình ảnh 8" descr="School Bus – Al Maqboo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53495" y="2053989"/>
            <a:ext cx="6020730" cy="3552230"/>
          </a:xfrm>
          <a:prstGeom prst="rect">
            <a:avLst/>
          </a:prstGeom>
          <a:noFill/>
        </p:spPr>
      </p:pic>
      <p:sp>
        <p:nvSpPr>
          <p:cNvPr id="10" name="Hình chữ nhật 9"/>
          <p:cNvSpPr/>
          <p:nvPr/>
        </p:nvSpPr>
        <p:spPr>
          <a:xfrm>
            <a:off x="3490451" y="6279601"/>
            <a:ext cx="8357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Der Bus </a:t>
            </a:r>
            <a:r>
              <a:rPr lang="de-DE" sz="3600" b="1" dirty="0">
                <a:solidFill>
                  <a:srgbClr val="00B0F0"/>
                </a:solidFill>
              </a:rPr>
              <a:t>kommt </a:t>
            </a:r>
            <a:r>
              <a:rPr lang="de-DE" sz="3600" b="1" dirty="0"/>
              <a:t>um 10 Uhr </a:t>
            </a:r>
            <a:r>
              <a:rPr lang="de-DE" sz="3600" b="1" dirty="0">
                <a:solidFill>
                  <a:srgbClr val="00B0F0"/>
                </a:solidFill>
              </a:rPr>
              <a:t>an.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11" name="Hình chữ nhật 10"/>
          <p:cNvSpPr/>
          <p:nvPr/>
        </p:nvSpPr>
        <p:spPr>
          <a:xfrm>
            <a:off x="1250660" y="2166438"/>
            <a:ext cx="3376431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ankommen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E3829-FB12-2146-B05F-AF37AF4DB27E}"/>
              </a:ext>
            </a:extLst>
          </p:cNvPr>
          <p:cNvSpPr/>
          <p:nvPr/>
        </p:nvSpPr>
        <p:spPr>
          <a:xfrm>
            <a:off x="1557640" y="3422248"/>
            <a:ext cx="2309835" cy="61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800" b="1" dirty="0">
                <a:solidFill>
                  <a:srgbClr val="C00000"/>
                </a:solidFill>
              </a:rPr>
              <a:t>arrive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/>
          <p:cNvSpPr/>
          <p:nvPr/>
        </p:nvSpPr>
        <p:spPr>
          <a:xfrm>
            <a:off x="5094727" y="605800"/>
            <a:ext cx="3081752" cy="787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abfahren</a:t>
            </a:r>
            <a:endParaRPr lang="en-US" sz="36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1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Hình ảnh 7" descr="Train Cartoon clipart - Train, Yellow, Transport, transparent clip ar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4326" y="2542052"/>
            <a:ext cx="5647674" cy="3873701"/>
          </a:xfrm>
          <a:prstGeom prst="rect">
            <a:avLst/>
          </a:prstGeom>
          <a:noFill/>
        </p:spPr>
      </p:pic>
      <p:sp>
        <p:nvSpPr>
          <p:cNvPr id="9" name="Hình chữ nhật 8"/>
          <p:cNvSpPr/>
          <p:nvPr/>
        </p:nvSpPr>
        <p:spPr>
          <a:xfrm>
            <a:off x="771203" y="3960429"/>
            <a:ext cx="5131052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DE" sz="3600" b="1" dirty="0"/>
              <a:t>z.B: Der Zug </a:t>
            </a:r>
            <a:r>
              <a:rPr lang="de-DE" sz="3600" b="1" dirty="0">
                <a:solidFill>
                  <a:srgbClr val="00B0F0"/>
                </a:solidFill>
              </a:rPr>
              <a:t>fährt </a:t>
            </a:r>
            <a:r>
              <a:rPr lang="de-DE" sz="3600" b="1" dirty="0"/>
              <a:t>um 7 Uhr </a:t>
            </a:r>
            <a:r>
              <a:rPr lang="de-DE" sz="3600" b="1" dirty="0">
                <a:solidFill>
                  <a:srgbClr val="00B0F0"/>
                </a:solidFill>
              </a:rPr>
              <a:t>ab.</a:t>
            </a:r>
            <a:r>
              <a:rPr lang="de-DE" sz="3600" b="1" dirty="0"/>
              <a:t> </a:t>
            </a:r>
          </a:p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</a:rPr>
              <a:t>The train leaves at 7 a.m.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0F01A-63E9-3C46-895F-F3B7247254A4}"/>
              </a:ext>
            </a:extLst>
          </p:cNvPr>
          <p:cNvSpPr/>
          <p:nvPr/>
        </p:nvSpPr>
        <p:spPr>
          <a:xfrm>
            <a:off x="8287991" y="788476"/>
            <a:ext cx="13837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DE" sz="2800" b="1" dirty="0">
                <a:solidFill>
                  <a:schemeClr val="bg1"/>
                </a:solidFill>
              </a:rPr>
              <a:t>depart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bg1"/>
                </a:solidFill>
              </a:rPr>
              <a:t>anfangen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Hình chữ nhật 12"/>
          <p:cNvSpPr/>
          <p:nvPr/>
        </p:nvSpPr>
        <p:spPr>
          <a:xfrm>
            <a:off x="4426886" y="4815650"/>
            <a:ext cx="2695836" cy="622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anfangen</a:t>
            </a:r>
            <a:endParaRPr lang="en-US" sz="3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4" name="Hình ảnh 13" descr="Anfangen (To Begin) German Verb Conjugations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25" r="2" b="2"/>
          <a:stretch>
            <a:fillRect/>
          </a:stretch>
        </p:blipFill>
        <p:spPr bwMode="auto">
          <a:xfrm>
            <a:off x="1638253" y="10"/>
            <a:ext cx="8451522" cy="4641743"/>
          </a:xfrm>
          <a:prstGeom prst="rect">
            <a:avLst/>
          </a:prstGeom>
          <a:noFill/>
        </p:spPr>
      </p:pic>
      <p:grpSp>
        <p:nvGrpSpPr>
          <p:cNvPr id="16" name="Group 24"/>
          <p:cNvGrpSpPr>
            <a:grpSpLocks noGrp="1" noUngrp="1" noRot="1" noChangeAspect="1" noMove="1" noResize="1"/>
          </p:cNvGrpSpPr>
          <p:nvPr/>
        </p:nvGrpSpPr>
        <p:grpSpPr>
          <a:xfrm>
            <a:off x="10502370" y="4641753"/>
            <a:ext cx="1128382" cy="847206"/>
            <a:chOff x="8183879" y="1000124"/>
            <a:chExt cx="1562267" cy="1172973"/>
          </a:xfrm>
        </p:grpSpPr>
        <p:sp>
          <p:nvSpPr>
            <p:cNvPr id="17" name="Freeform 5"/>
            <p:cNvSpPr/>
            <p:nvPr/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9" name="Hình chữ nhật 18"/>
          <p:cNvSpPr/>
          <p:nvPr/>
        </p:nvSpPr>
        <p:spPr>
          <a:xfrm>
            <a:off x="2751949" y="5597137"/>
            <a:ext cx="874154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3600" b="1" dirty="0"/>
              <a:t>z.B: Er </a:t>
            </a:r>
            <a:r>
              <a:rPr lang="de-DE" sz="3600" b="1" dirty="0">
                <a:solidFill>
                  <a:srgbClr val="00B0F0"/>
                </a:solidFill>
              </a:rPr>
              <a:t>fängt </a:t>
            </a:r>
            <a:r>
              <a:rPr lang="de-DE" sz="3600" b="1" dirty="0"/>
              <a:t>das Rennen </a:t>
            </a:r>
            <a:r>
              <a:rPr lang="de-DE" sz="3600" b="1" dirty="0">
                <a:solidFill>
                  <a:srgbClr val="00B0F0"/>
                </a:solidFill>
              </a:rPr>
              <a:t>an</a:t>
            </a:r>
            <a:r>
              <a:rPr lang="de-DE" sz="3600" b="1" dirty="0"/>
              <a:t>.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</a:rPr>
              <a:t>He starts the race.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4C1EA5-E130-FA43-843F-546FCCD454FA}"/>
              </a:ext>
            </a:extLst>
          </p:cNvPr>
          <p:cNvSpPr/>
          <p:nvPr/>
        </p:nvSpPr>
        <p:spPr>
          <a:xfrm>
            <a:off x="7129698" y="4819108"/>
            <a:ext cx="2270779" cy="6228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b</a:t>
            </a:r>
            <a:r>
              <a:rPr lang="en-DE" sz="2400" b="1" dirty="0">
                <a:solidFill>
                  <a:srgbClr val="C00000"/>
                </a:solidFill>
              </a:rPr>
              <a:t>egin, start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/>
          <p:nvPr/>
        </p:nvSpPr>
        <p:spPr>
          <a:xfrm>
            <a:off x="2829723" y="288681"/>
            <a:ext cx="8632604" cy="1099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de-DE" b="1"/>
              <a:t>Trennbare Verben im Satz</a:t>
            </a:r>
          </a:p>
        </p:txBody>
      </p:sp>
      <p:sp>
        <p:nvSpPr>
          <p:cNvPr id="5" name="Hình chữ nhật 4"/>
          <p:cNvSpPr/>
          <p:nvPr/>
        </p:nvSpPr>
        <p:spPr>
          <a:xfrm>
            <a:off x="311957" y="2940630"/>
            <a:ext cx="1917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Aussagesatzt</a:t>
            </a:r>
            <a:r>
              <a:rPr lang="en-US" sz="2400" u="sng" dirty="0"/>
              <a:t> </a:t>
            </a:r>
          </a:p>
        </p:txBody>
      </p:sp>
      <p:sp>
        <p:nvSpPr>
          <p:cNvPr id="6" name="Hình chữ nhật 5"/>
          <p:cNvSpPr/>
          <p:nvPr/>
        </p:nvSpPr>
        <p:spPr>
          <a:xfrm>
            <a:off x="2676159" y="1966997"/>
            <a:ext cx="1720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400" b="1" dirty="0"/>
              <a:t>Position 1</a:t>
            </a:r>
            <a:endParaRPr lang="en-US" sz="2400" b="1" dirty="0"/>
          </a:p>
        </p:txBody>
      </p:sp>
      <p:sp>
        <p:nvSpPr>
          <p:cNvPr id="7" name="Hình chữ nhật 6"/>
          <p:cNvSpPr/>
          <p:nvPr/>
        </p:nvSpPr>
        <p:spPr>
          <a:xfrm>
            <a:off x="4650411" y="1983525"/>
            <a:ext cx="2294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/>
              <a:t>Position 2 - Verb</a:t>
            </a:r>
            <a:endParaRPr lang="en-US" sz="2400" b="1" dirty="0"/>
          </a:p>
        </p:txBody>
      </p:sp>
      <p:sp>
        <p:nvSpPr>
          <p:cNvPr id="8" name="Hình chữ nhật 7"/>
          <p:cNvSpPr/>
          <p:nvPr/>
        </p:nvSpPr>
        <p:spPr>
          <a:xfrm>
            <a:off x="8969481" y="2007461"/>
            <a:ext cx="2307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/>
              <a:t>Satzende - Präfix</a:t>
            </a:r>
            <a:endParaRPr lang="en-US" sz="2400" b="1" dirty="0"/>
          </a:p>
        </p:txBody>
      </p:sp>
      <p:sp>
        <p:nvSpPr>
          <p:cNvPr id="9" name="Hình chữ nhật 8"/>
          <p:cNvSpPr/>
          <p:nvPr/>
        </p:nvSpPr>
        <p:spPr>
          <a:xfrm>
            <a:off x="7157843" y="1995003"/>
            <a:ext cx="1447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/>
              <a:t>Mittelfeld</a:t>
            </a:r>
            <a:endParaRPr lang="en-US" sz="2400" b="1" dirty="0"/>
          </a:p>
        </p:txBody>
      </p:sp>
      <p:sp>
        <p:nvSpPr>
          <p:cNvPr id="10" name="Hình chữ nhật 9"/>
          <p:cNvSpPr/>
          <p:nvPr/>
        </p:nvSpPr>
        <p:spPr>
          <a:xfrm>
            <a:off x="3075631" y="2914603"/>
            <a:ext cx="622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/>
              <a:t>Ich </a:t>
            </a:r>
            <a:endParaRPr lang="en-US" sz="2400" dirty="0"/>
          </a:p>
        </p:txBody>
      </p:sp>
      <p:sp>
        <p:nvSpPr>
          <p:cNvPr id="11" name="Hình chữ nhật 10"/>
          <p:cNvSpPr/>
          <p:nvPr/>
        </p:nvSpPr>
        <p:spPr>
          <a:xfrm>
            <a:off x="5209428" y="2892991"/>
            <a:ext cx="702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rufe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12" name="Hình chữ nhật 11"/>
          <p:cNvSpPr/>
          <p:nvPr/>
        </p:nvSpPr>
        <p:spPr>
          <a:xfrm>
            <a:off x="6859736" y="2914475"/>
            <a:ext cx="10839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en-US" sz="2400" dirty="0"/>
              <a:t>Helen </a:t>
            </a:r>
          </a:p>
        </p:txBody>
      </p:sp>
      <p:sp>
        <p:nvSpPr>
          <p:cNvPr id="13" name="Hình chữ nhật 12"/>
          <p:cNvSpPr/>
          <p:nvPr/>
        </p:nvSpPr>
        <p:spPr>
          <a:xfrm>
            <a:off x="9540916" y="291460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an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14" name="Hình chữ nhật 13"/>
          <p:cNvSpPr/>
          <p:nvPr/>
        </p:nvSpPr>
        <p:spPr>
          <a:xfrm>
            <a:off x="689889" y="4316816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/>
              <a:t>W-Frage</a:t>
            </a:r>
            <a:endParaRPr lang="en-US" sz="2400" b="1" dirty="0"/>
          </a:p>
        </p:txBody>
      </p:sp>
      <p:sp>
        <p:nvSpPr>
          <p:cNvPr id="15" name="Hình chữ nhật 14"/>
          <p:cNvSpPr/>
          <p:nvPr/>
        </p:nvSpPr>
        <p:spPr>
          <a:xfrm>
            <a:off x="3075631" y="4289058"/>
            <a:ext cx="988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/>
              <a:t>Wann </a:t>
            </a:r>
            <a:endParaRPr lang="en-US" sz="2400" dirty="0"/>
          </a:p>
        </p:txBody>
      </p:sp>
      <p:sp>
        <p:nvSpPr>
          <p:cNvPr id="16" name="Hình chữ nhật 15"/>
          <p:cNvSpPr/>
          <p:nvPr/>
        </p:nvSpPr>
        <p:spPr>
          <a:xfrm>
            <a:off x="5253194" y="4289057"/>
            <a:ext cx="763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rufst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17" name="Hình chữ nhật 16"/>
          <p:cNvSpPr/>
          <p:nvPr/>
        </p:nvSpPr>
        <p:spPr>
          <a:xfrm>
            <a:off x="6948659" y="4316816"/>
            <a:ext cx="143319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de-DE" sz="2400" dirty="0"/>
              <a:t>du </a:t>
            </a:r>
            <a:r>
              <a:rPr lang="de-DE" altLang="en-US" sz="2400" dirty="0"/>
              <a:t>Helen</a:t>
            </a:r>
          </a:p>
        </p:txBody>
      </p:sp>
      <p:sp>
        <p:nvSpPr>
          <p:cNvPr id="18" name="Hình chữ nhật 17"/>
          <p:cNvSpPr/>
          <p:nvPr/>
        </p:nvSpPr>
        <p:spPr>
          <a:xfrm>
            <a:off x="9460513" y="4260153"/>
            <a:ext cx="636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an?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19" name="Hình chữ nhật 18"/>
          <p:cNvSpPr/>
          <p:nvPr/>
        </p:nvSpPr>
        <p:spPr>
          <a:xfrm>
            <a:off x="487739" y="5506424"/>
            <a:ext cx="22349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/>
              <a:t>Ja/Nein – Frage </a:t>
            </a:r>
            <a:endParaRPr lang="en-US" sz="2400" b="1" dirty="0"/>
          </a:p>
        </p:txBody>
      </p:sp>
      <p:sp>
        <p:nvSpPr>
          <p:cNvPr id="20" name="Hình chữ nhật 19"/>
          <p:cNvSpPr/>
          <p:nvPr/>
        </p:nvSpPr>
        <p:spPr>
          <a:xfrm>
            <a:off x="3075631" y="5506422"/>
            <a:ext cx="8231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Rufst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21" name="Hình chữ nhật 20"/>
          <p:cNvSpPr/>
          <p:nvPr/>
        </p:nvSpPr>
        <p:spPr>
          <a:xfrm>
            <a:off x="5439655" y="5506420"/>
            <a:ext cx="577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/>
              <a:t>du </a:t>
            </a:r>
            <a:endParaRPr lang="en-US" sz="2400" dirty="0"/>
          </a:p>
        </p:txBody>
      </p:sp>
      <p:sp>
        <p:nvSpPr>
          <p:cNvPr id="22" name="Hình chữ nhật 21"/>
          <p:cNvSpPr/>
          <p:nvPr/>
        </p:nvSpPr>
        <p:spPr>
          <a:xfrm>
            <a:off x="6936955" y="5506421"/>
            <a:ext cx="10839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/>
              <a:t>Helen </a:t>
            </a:r>
            <a:endParaRPr lang="en-US" sz="2400" dirty="0"/>
          </a:p>
        </p:txBody>
      </p:sp>
      <p:sp>
        <p:nvSpPr>
          <p:cNvPr id="23" name="Hình chữ nhật 22"/>
          <p:cNvSpPr/>
          <p:nvPr/>
        </p:nvSpPr>
        <p:spPr>
          <a:xfrm>
            <a:off x="9469583" y="5506420"/>
            <a:ext cx="636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>
                <a:solidFill>
                  <a:srgbClr val="00B0F0"/>
                </a:solidFill>
              </a:rPr>
              <a:t>an?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12192000" cy="69563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296</Words>
  <Application>Microsoft Macintosh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Century Gothic</vt:lpstr>
      <vt:lpstr>Garamond</vt:lpstr>
      <vt:lpstr>Rockwell</vt:lpstr>
      <vt:lpstr>Tahoma</vt:lpstr>
      <vt:lpstr>Verdana</vt:lpstr>
      <vt:lpstr>Savon</vt:lpstr>
      <vt:lpstr>Trennbare Verben separable verbs</vt:lpstr>
      <vt:lpstr>PowerPoint Presentation</vt:lpstr>
      <vt:lpstr>Was sind trennbare Verben?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Trennbare Verben</dc:title>
  <dc:creator>An Ton Nu Nguyet</dc:creator>
  <cp:lastModifiedBy>An Ton Nu Nguyet</cp:lastModifiedBy>
  <cp:revision>19</cp:revision>
  <dcterms:created xsi:type="dcterms:W3CDTF">2021-06-25T06:18:33Z</dcterms:created>
  <dcterms:modified xsi:type="dcterms:W3CDTF">2023-10-13T03:38:37Z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1033-3.1.3.5746</vt:lpwstr>
  </property>
</Properties>
</file>